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4" r:id="rId4"/>
    <p:sldId id="267" r:id="rId5"/>
    <p:sldId id="268" r:id="rId6"/>
    <p:sldId id="269" r:id="rId7"/>
    <p:sldId id="258" r:id="rId8"/>
    <p:sldId id="259" r:id="rId9"/>
    <p:sldId id="270" r:id="rId10"/>
    <p:sldId id="271" r:id="rId11"/>
    <p:sldId id="272" r:id="rId12"/>
    <p:sldId id="260" r:id="rId13"/>
    <p:sldId id="261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CE73A-25B2-DA35-7EC2-9DC68D4CD77D}" v="127" dt="2026-02-22T20:13:11.649"/>
    <p1510:client id="{2E4127A7-3110-2268-F828-F910C1EB7FBE}" v="890" dt="2026-02-24T05:57:21.411"/>
    <p1510:client id="{3567D609-C059-7FA0-DF35-F74B762B9B4D}" v="810" dt="2026-02-24T08:08:21.030"/>
    <p1510:client id="{5828627E-7A39-96E6-0ED0-88AA61FCC838}" v="61" dt="2026-02-24T16:42:09.954"/>
    <p1510:client id="{7FBE2681-C294-5169-191F-51D7F81DC686}" v="96" dt="2026-02-23T18:43:28.769"/>
    <p1510:client id="{94821806-6A21-CC5F-FD80-DDFE91A5DE85}" v="161" dt="2026-02-24T14:33:01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6884" y="590062"/>
            <a:ext cx="5510295" cy="3715956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Mini Project 3:</a:t>
            </a:r>
            <a:br>
              <a:rPr lang="en-US" sz="5600">
                <a:solidFill>
                  <a:srgbClr val="FFFFFF"/>
                </a:solidFill>
              </a:rPr>
            </a:br>
            <a:br>
              <a:rPr lang="en-US" sz="5600"/>
            </a:br>
            <a:r>
              <a:rPr lang="en-US" sz="3200">
                <a:solidFill>
                  <a:srgbClr val="FFFFFF"/>
                </a:solidFill>
              </a:rPr>
              <a:t>Chemical Manufacturing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Team Pineapple</a:t>
            </a:r>
            <a:endParaRPr lang="en-US"/>
          </a:p>
          <a:p>
            <a:pPr algn="r"/>
            <a:r>
              <a:rPr lang="en-US">
                <a:solidFill>
                  <a:srgbClr val="FFFFFF"/>
                </a:solidFill>
              </a:rPr>
              <a:t>Samia, Sal, Nik</a:t>
            </a:r>
            <a:endParaRPr lang="en-US"/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7880-C908-56B5-87F7-597F7148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7560-9E79-F5AC-739A-DE030CE1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1E15-09FF-C671-D845-5C74FAC9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361"/>
            <a:ext cx="10515600" cy="48556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</a:rPr>
              <a:t>Analyze a chemical manufacturing process for Smith-Brown Industrial Chemicals Inc. refinery on the Monongahela River in Pittsburgh PA.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</a:rPr>
              <a:t>Determine the most cost-effective method for handling liquid waste from a manufacturing process.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D691-78B1-1A42-56E5-196036D4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3C66A-9A96-2AF4-652F-EFEE0F74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677" y="1680483"/>
            <a:ext cx="10709123" cy="4496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Tools and skills for completing this project:</a:t>
            </a:r>
            <a:endParaRPr lang="en-US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Software used includes Excel solver (using the Simplex Method)</a:t>
            </a:r>
          </a:p>
          <a:p>
            <a:pPr lvl="1"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Operations research techniques for optimization</a:t>
            </a:r>
          </a:p>
        </p:txBody>
      </p:sp>
      <p:pic>
        <p:nvPicPr>
          <p:cNvPr id="5" name="Picture 4" descr="Microsoft Excel - Wikipedia">
            <a:extLst>
              <a:ext uri="{FF2B5EF4-FFF2-40B4-BE49-F238E27FC236}">
                <a16:creationId xmlns:a16="http://schemas.microsoft.com/office/drawing/2014/main" id="{3B5D7DE2-CBF4-91D0-C1B1-9B7E9C2D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048" y="4438951"/>
            <a:ext cx="1984474" cy="205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8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FC98-C73B-1076-D08F-3245D45F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FA2B-BB7D-83EE-13C0-6AD08D91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1154"/>
            <a:ext cx="10515600" cy="776475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Scenario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9D820-C82A-87D3-E15B-4FF0BAAB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596"/>
            <a:ext cx="10515600" cy="50461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The company’s primary product is manufactured from a chemical process that requires the use of 2 raw materials: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Material X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Material Y</a:t>
            </a:r>
          </a:p>
          <a:p>
            <a:r>
              <a:rPr lang="en-US" sz="2400">
                <a:solidFill>
                  <a:schemeClr val="bg1"/>
                </a:solidFill>
              </a:rPr>
              <a:t>The production of one pound of the primary product requires: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1 </a:t>
            </a:r>
            <a:r>
              <a:rPr lang="en-US" err="1">
                <a:solidFill>
                  <a:schemeClr val="bg1"/>
                </a:solidFill>
              </a:rPr>
              <a:t>lb</a:t>
            </a:r>
            <a:r>
              <a:rPr lang="en-US">
                <a:solidFill>
                  <a:schemeClr val="bg1"/>
                </a:solidFill>
              </a:rPr>
              <a:t> of material X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2 </a:t>
            </a:r>
            <a:r>
              <a:rPr lang="en-US" err="1">
                <a:solidFill>
                  <a:schemeClr val="bg1"/>
                </a:solidFill>
              </a:rPr>
              <a:t>lb</a:t>
            </a:r>
            <a:r>
              <a:rPr lang="en-US">
                <a:solidFill>
                  <a:schemeClr val="bg1"/>
                </a:solidFill>
              </a:rPr>
              <a:t> of material Y</a:t>
            </a:r>
          </a:p>
          <a:p>
            <a:r>
              <a:rPr lang="en-US" sz="2400">
                <a:solidFill>
                  <a:schemeClr val="bg1"/>
                </a:solidFill>
              </a:rPr>
              <a:t>The output of the chemical process 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1 </a:t>
            </a:r>
            <a:r>
              <a:rPr lang="en-US" err="1">
                <a:solidFill>
                  <a:schemeClr val="bg1"/>
                </a:solidFill>
              </a:rPr>
              <a:t>lb</a:t>
            </a:r>
            <a:r>
              <a:rPr lang="en-US">
                <a:solidFill>
                  <a:schemeClr val="bg1"/>
                </a:solidFill>
              </a:rPr>
              <a:t> of the primary product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1 </a:t>
            </a:r>
            <a:r>
              <a:rPr lang="en-US" err="1">
                <a:solidFill>
                  <a:schemeClr val="bg1"/>
                </a:solidFill>
              </a:rPr>
              <a:t>lb</a:t>
            </a:r>
            <a:r>
              <a:rPr lang="en-US">
                <a:solidFill>
                  <a:schemeClr val="bg1"/>
                </a:solidFill>
              </a:rPr>
              <a:t> of liquid waste material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1 </a:t>
            </a:r>
            <a:r>
              <a:rPr lang="en-US" err="1">
                <a:solidFill>
                  <a:schemeClr val="bg1"/>
                </a:solidFill>
              </a:rPr>
              <a:t>lb</a:t>
            </a:r>
            <a:r>
              <a:rPr lang="en-US">
                <a:solidFill>
                  <a:schemeClr val="bg1"/>
                </a:solidFill>
              </a:rPr>
              <a:t> of solid waste by-product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94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411B-D4E0-55F9-54FB-6E8874C0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A25C-869B-9435-875F-130E18DF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213"/>
            <a:ext cx="10515600" cy="776475"/>
          </a:xfrm>
        </p:spPr>
        <p:txBody>
          <a:bodyPr>
            <a:norm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Scenario Breakdown</a:t>
            </a:r>
            <a:endParaRPr lang="en-US"/>
          </a:p>
        </p:txBody>
      </p:sp>
      <p:pic>
        <p:nvPicPr>
          <p:cNvPr id="6" name="Picture 5" descr="A diagram of a river&#10;&#10;AI-generated content may be incorrect.">
            <a:extLst>
              <a:ext uri="{FF2B5EF4-FFF2-40B4-BE49-F238E27FC236}">
                <a16:creationId xmlns:a16="http://schemas.microsoft.com/office/drawing/2014/main" id="{E45BD338-18C5-E9C3-F689-91E14BEB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45" y="1092854"/>
            <a:ext cx="8896910" cy="53222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914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C0BE-8C41-62F4-0649-41D67153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3C50-4EC2-6A9D-2238-ADB9EB7CC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06" y="163419"/>
            <a:ext cx="10515600" cy="686828"/>
          </a:xfrm>
        </p:spPr>
        <p:txBody>
          <a:bodyPr>
            <a:normAutofit fontScale="90000"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Scenario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5ED7-5AEC-A646-A90D-4C6859E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" y="1108449"/>
            <a:ext cx="10515600" cy="85510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solidFill>
                  <a:schemeClr val="bg1"/>
                </a:solidFill>
              </a:rPr>
              <a:t>New guidelines prohibit disposal of liquid waste directly into the river</a:t>
            </a:r>
          </a:p>
          <a:p>
            <a:r>
              <a:rPr lang="en-US" sz="2400">
                <a:solidFill>
                  <a:schemeClr val="bg1"/>
                </a:solidFill>
              </a:rPr>
              <a:t>Alternatives for the liquid waste proposed by refinery's research group: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6864E-E9D3-6BF2-56B4-6488F7CE318E}"/>
              </a:ext>
            </a:extLst>
          </p:cNvPr>
          <p:cNvSpPr/>
          <p:nvPr/>
        </p:nvSpPr>
        <p:spPr>
          <a:xfrm>
            <a:off x="306647" y="2071160"/>
            <a:ext cx="3656994" cy="15262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10DF7-BCE7-E7D1-19F7-602C4C1DDA3F}"/>
              </a:ext>
            </a:extLst>
          </p:cNvPr>
          <p:cNvSpPr/>
          <p:nvPr/>
        </p:nvSpPr>
        <p:spPr>
          <a:xfrm>
            <a:off x="4139059" y="2071160"/>
            <a:ext cx="3903523" cy="15262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D94334-5F09-51F5-9B03-4754A86AE86F}"/>
              </a:ext>
            </a:extLst>
          </p:cNvPr>
          <p:cNvSpPr/>
          <p:nvPr/>
        </p:nvSpPr>
        <p:spPr>
          <a:xfrm>
            <a:off x="8274029" y="2071157"/>
            <a:ext cx="3757847" cy="15150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ED0C8-1744-C1AC-1270-DADE437AA00E}"/>
              </a:ext>
            </a:extLst>
          </p:cNvPr>
          <p:cNvSpPr txBox="1"/>
          <p:nvPr/>
        </p:nvSpPr>
        <p:spPr>
          <a:xfrm>
            <a:off x="347382" y="2106706"/>
            <a:ext cx="36195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/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Produce a secondary product K by adding 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1 </a:t>
            </a:r>
            <a:r>
              <a:rPr lang="en-US" sz="2200" err="1">
                <a:solidFill>
                  <a:srgbClr val="FFFFFF"/>
                </a:solidFill>
                <a:latin typeface="Aptos"/>
                <a:ea typeface="Arial"/>
                <a:cs typeface="Arial"/>
              </a:rPr>
              <a:t>lb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of raw material X 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to every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200" err="1">
                <a:solidFill>
                  <a:srgbClr val="FFFFFF"/>
                </a:solidFill>
                <a:latin typeface="Aptos"/>
                <a:ea typeface="Arial"/>
                <a:cs typeface="Arial"/>
              </a:rPr>
              <a:t>lb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of liquid waste. </a:t>
            </a:r>
            <a:endParaRPr lang="en-US" sz="2200">
              <a:latin typeface="Aptos"/>
              <a:ea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B380F-99B9-A9FF-4399-4298E53DECB8}"/>
              </a:ext>
            </a:extLst>
          </p:cNvPr>
          <p:cNvSpPr txBox="1"/>
          <p:nvPr/>
        </p:nvSpPr>
        <p:spPr>
          <a:xfrm>
            <a:off x="4202206" y="2151530"/>
            <a:ext cx="377638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/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Produce a secondary product M by adding 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1 </a:t>
            </a:r>
            <a:r>
              <a:rPr lang="en-US" sz="2200" err="1">
                <a:solidFill>
                  <a:srgbClr val="FFFFFF"/>
                </a:solidFill>
                <a:latin typeface="Aptos"/>
                <a:ea typeface="Arial"/>
                <a:cs typeface="Arial"/>
              </a:rPr>
              <a:t>lb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of raw material Y 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to every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200" err="1">
                <a:solidFill>
                  <a:srgbClr val="FFFFFF"/>
                </a:solidFill>
                <a:latin typeface="Aptos"/>
                <a:ea typeface="Arial"/>
                <a:cs typeface="Arial"/>
              </a:rPr>
              <a:t>lb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of liquid waste.</a:t>
            </a:r>
            <a:endParaRPr lang="en-US" sz="220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CE878-E6FB-4970-6058-318625FE4F9B}"/>
              </a:ext>
            </a:extLst>
          </p:cNvPr>
          <p:cNvSpPr txBox="1"/>
          <p:nvPr/>
        </p:nvSpPr>
        <p:spPr>
          <a:xfrm>
            <a:off x="8337176" y="2140324"/>
            <a:ext cx="363070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Specially treat the liquid waste so that 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it meets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 pollution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standard 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before dumping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200">
                <a:solidFill>
                  <a:srgbClr val="FFFFFF"/>
                </a:solidFill>
                <a:latin typeface="Aptos"/>
                <a:ea typeface="Arial"/>
                <a:cs typeface="Arial"/>
              </a:rPr>
              <a:t>it into</a:t>
            </a:r>
            <a:r>
              <a:rPr lang="en-US" sz="22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 the river. </a:t>
            </a:r>
            <a:endParaRPr lang="en-US" sz="2200"/>
          </a:p>
        </p:txBody>
      </p:sp>
      <p:pic>
        <p:nvPicPr>
          <p:cNvPr id="11" name="Picture 10" descr="A diagram of a liquid waste&#10;&#10;AI-generated content may be incorrect.">
            <a:extLst>
              <a:ext uri="{FF2B5EF4-FFF2-40B4-BE49-F238E27FC236}">
                <a16:creationId xmlns:a16="http://schemas.microsoft.com/office/drawing/2014/main" id="{721244E5-B290-9E64-0A40-8343A456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95" y="3744445"/>
            <a:ext cx="2316255" cy="2977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diagram of a liquid waste&#10;&#10;AI-generated content may be incorrect.">
            <a:extLst>
              <a:ext uri="{FF2B5EF4-FFF2-40B4-BE49-F238E27FC236}">
                <a16:creationId xmlns:a16="http://schemas.microsoft.com/office/drawing/2014/main" id="{6A5DB63B-CAB8-47D1-AD53-E467F6B7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18" y="3742765"/>
            <a:ext cx="2512358" cy="29583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diagram of a special treatment&#10;&#10;AI-generated content may be incorrect.">
            <a:extLst>
              <a:ext uri="{FF2B5EF4-FFF2-40B4-BE49-F238E27FC236}">
                <a16:creationId xmlns:a16="http://schemas.microsoft.com/office/drawing/2014/main" id="{286AB8A0-0BCC-1316-6F50-5E4905C5C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964" y="3740244"/>
            <a:ext cx="3120279" cy="29633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337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EBFE-B587-FC27-C457-A93F16F9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4F66B-A260-DA2F-58E3-836D1C8D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899272"/>
            <a:ext cx="1154725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300">
                <a:solidFill>
                  <a:schemeClr val="bg1"/>
                </a:solidFill>
                <a:latin typeface="Aptos Display"/>
              </a:rPr>
              <a:t>Determine optimal allocation of production quantities to satisfy pollution regulations while maximizing profit: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>
                <a:solidFill>
                  <a:schemeClr val="bg1"/>
                </a:solidFill>
                <a:latin typeface="Aptos Display"/>
              </a:rPr>
              <a:t> What is the ideal combination of product output? </a:t>
            </a:r>
            <a:endParaRPr lang="en-US" sz="2300">
              <a:solidFill>
                <a:schemeClr val="bg1"/>
              </a:solidFill>
            </a:endParaRPr>
          </a:p>
          <a:p>
            <a:endParaRPr lang="en-US">
              <a:solidFill>
                <a:srgbClr val="000000"/>
              </a:solidFill>
              <a:latin typeface="Aptos" panose="020B000402020202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687756-FBDA-16ED-3732-B7B8740A5B15}"/>
              </a:ext>
            </a:extLst>
          </p:cNvPr>
          <p:cNvSpPr txBox="1">
            <a:spLocks/>
          </p:cNvSpPr>
          <p:nvPr/>
        </p:nvSpPr>
        <p:spPr>
          <a:xfrm>
            <a:off x="468406" y="208242"/>
            <a:ext cx="10515600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chemeClr val="bg1"/>
                </a:solidFill>
              </a:rPr>
              <a:t>Scenario Breakdown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F60C6-D897-7FC5-2DE9-F0CE0C2C7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20" y="3077633"/>
            <a:ext cx="8210550" cy="3581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888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C8ED-86EF-5859-DF7B-83BFEA8D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chemeClr val="bg1"/>
                </a:solidFill>
              </a:rPr>
              <a:t>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6E56B-5D95-EC2E-34B7-CAB684744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solidFill>
                  <a:schemeClr val="bg1"/>
                </a:solidFill>
                <a:latin typeface="Aptos Display"/>
              </a:rPr>
              <a:t>RMY can be increased by 6000 before RMX needs to be increased at all.</a:t>
            </a:r>
          </a:p>
          <a:p>
            <a:endParaRPr lang="en-US" sz="440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B143AB3-7B72-3224-A723-1F175B6D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89" y="3120344"/>
            <a:ext cx="6365755" cy="34354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946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4CCD-5EF8-DB95-C2B3-E5497E29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2412-07A3-BEF1-E812-C135AED8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156230"/>
          </a:xfrm>
        </p:spPr>
        <p:txBody>
          <a:bodyPr/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Excel Model</a:t>
            </a:r>
          </a:p>
        </p:txBody>
      </p:sp>
      <p:pic>
        <p:nvPicPr>
          <p:cNvPr id="6" name="Picture 5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1D99ED59-CB1D-2BCB-D6A8-EE6F9876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018343"/>
            <a:ext cx="11544300" cy="288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E16261-CC9D-E429-4679-6BCE45A0C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4051148"/>
            <a:ext cx="10515600" cy="1787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Decision Variables: PP, PK, PM, TLW</a:t>
            </a:r>
          </a:p>
          <a:p>
            <a:r>
              <a:rPr lang="en-US">
                <a:solidFill>
                  <a:schemeClr val="bg1"/>
                </a:solidFill>
              </a:rPr>
              <a:t>Constraints: </a:t>
            </a:r>
          </a:p>
          <a:p>
            <a:r>
              <a:rPr lang="en-US">
                <a:solidFill>
                  <a:schemeClr val="bg1"/>
                </a:solidFill>
              </a:rPr>
              <a:t>Objective Function: PP(5.7)+PK(0.6)+PM(0.55)+TLW(4500)</a:t>
            </a:r>
          </a:p>
        </p:txBody>
      </p:sp>
    </p:spTree>
    <p:extLst>
      <p:ext uri="{BB962C8B-B14F-4D97-AF65-F5344CB8AC3E}">
        <p14:creationId xmlns:p14="http://schemas.microsoft.com/office/powerpoint/2010/main" val="8474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499D-2085-05F1-3821-521C5912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996E-2F45-CE6D-9DF9-31200C57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156230"/>
          </a:xfrm>
        </p:spPr>
        <p:txBody>
          <a:bodyPr/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Excel Model - Constraints</a:t>
            </a:r>
          </a:p>
        </p:txBody>
      </p:sp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C0FA236C-1A40-491F-23F9-D14CC97E3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61" r="-91" b="361"/>
          <a:stretch>
            <a:fillRect/>
          </a:stretch>
        </p:blipFill>
        <p:spPr>
          <a:xfrm>
            <a:off x="323850" y="1978672"/>
            <a:ext cx="11554747" cy="28860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951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90D9-159B-7DDC-3632-81648D9A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C068-2F1C-FFA2-4F91-107FA8E3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156230"/>
          </a:xfrm>
        </p:spPr>
        <p:txBody>
          <a:bodyPr/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Excel Model – Objective Function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F60C67-2950-BCC2-09A0-C5BEDC9A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4051148"/>
            <a:ext cx="10515600" cy="1787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Simply put, it is the number of pounds of PP, PK, PM, and TLW multiplied by their respective profit or cost, and then the sum of those quantities.</a:t>
            </a:r>
          </a:p>
        </p:txBody>
      </p:sp>
      <p:pic>
        <p:nvPicPr>
          <p:cNvPr id="3" name="Picture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2B5EE69C-7528-CD71-FDE5-8BE5556F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2" y="1038784"/>
            <a:ext cx="12010572" cy="2663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95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62DF-7F46-4DFA-79A5-F762A36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4F20-843C-D8FA-A889-1D2D9D12B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>
                <a:solidFill>
                  <a:schemeClr val="bg1"/>
                </a:solidFill>
              </a:rPr>
              <a:t>The accountant's recommendation is reasonable given that any amount of raw material Y is better used producing more primary product then treating the liquid waste until all of material X is used. </a:t>
            </a:r>
          </a:p>
          <a:p>
            <a:pPr marL="457200" indent="-457200"/>
            <a:r>
              <a:rPr lang="en-US">
                <a:solidFill>
                  <a:schemeClr val="bg1"/>
                </a:solidFill>
              </a:rPr>
              <a:t>The optimal solution does not change if product K were eliminated.</a:t>
            </a:r>
          </a:p>
        </p:txBody>
      </p:sp>
    </p:spTree>
    <p:extLst>
      <p:ext uri="{BB962C8B-B14F-4D97-AF65-F5344CB8AC3E}">
        <p14:creationId xmlns:p14="http://schemas.microsoft.com/office/powerpoint/2010/main" val="66192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8B94-A63B-08F8-01A2-5F83065B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C8A2-228B-1C86-106D-D346D70A8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Fixed costs were $17500 and income  $24525,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$24525 - $17500 = $7025 total profits.</a:t>
            </a:r>
          </a:p>
          <a:p>
            <a:r>
              <a:rPr lang="en-US">
                <a:solidFill>
                  <a:schemeClr val="bg1"/>
                </a:solidFill>
              </a:rPr>
              <a:t>Biggest Challenge: Troubleshooting the Solver tool</a:t>
            </a:r>
          </a:p>
          <a:p>
            <a:r>
              <a:rPr lang="en-US">
                <a:solidFill>
                  <a:schemeClr val="bg1"/>
                </a:solidFill>
              </a:rPr>
              <a:t>Possible improvement:</a:t>
            </a:r>
          </a:p>
          <a:p>
            <a:r>
              <a:rPr lang="en-US">
                <a:solidFill>
                  <a:schemeClr val="bg1"/>
                </a:solidFill>
              </a:rPr>
              <a:t>There is likely a better way to set up the information so that less cells need to be changed.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3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2543-1E40-F12B-2B73-EEE00A45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31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>
                <a:solidFill>
                  <a:schemeClr val="bg1"/>
                </a:solidFill>
              </a:rPr>
              <a:t>Thank You!</a:t>
            </a:r>
            <a:endParaRPr lang="en-US" sz="7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7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Mini Project 3:  Chemical Manufacturing Analysis</vt:lpstr>
      <vt:lpstr>Introduction</vt:lpstr>
      <vt:lpstr>Methodology</vt:lpstr>
      <vt:lpstr>Scenario Breakdown</vt:lpstr>
      <vt:lpstr>Scenario Breakdown</vt:lpstr>
      <vt:lpstr>Scenario Breakdown</vt:lpstr>
      <vt:lpstr> </vt:lpstr>
      <vt:lpstr>Methodology</vt:lpstr>
      <vt:lpstr>Excel Model</vt:lpstr>
      <vt:lpstr>Excel Model - Constraints</vt:lpstr>
      <vt:lpstr>Excel Model – Objective Function</vt:lpstr>
      <vt:lpstr>Analysis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2026-02-18T18:33:13Z</dcterms:created>
  <dcterms:modified xsi:type="dcterms:W3CDTF">2026-02-24T17:13:29Z</dcterms:modified>
</cp:coreProperties>
</file>